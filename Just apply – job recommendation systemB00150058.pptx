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14" r:id="rId2"/>
    <p:sldId id="315" r:id="rId3"/>
    <p:sldId id="324" r:id="rId4"/>
    <p:sldId id="323" r:id="rId5"/>
    <p:sldId id="320" r:id="rId6"/>
    <p:sldId id="321" r:id="rId7"/>
    <p:sldId id="322" r:id="rId8"/>
    <p:sldId id="30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8EC20E35-A176-4012-BC5E-935CFFF8708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7E7E7"/>
          </a:solidFill>
        </a:fill>
      </a:tcStyle>
    </a:band1H>
    <a:band1V>
      <a:tcStyle>
        <a:tcBdr/>
        <a:fill>
          <a:solidFill>
            <a:srgbClr val="E7E7E7"/>
          </a:solidFill>
        </a:fill>
      </a:tcStyle>
    </a:band1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000000"/>
          </a:solidFill>
        </a:fill>
      </a:tcStyle>
    </a:firstRow>
  </a:tblStyle>
  <a:tblStyle styleId="{7E9639D4-E3E2-4D34-9284-5A2195B3D0D7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>
          <a:top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band1H>
    <a:band1V>
      <a:tcStyle>
        <a:tcBdr>
          <a:lef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1V>
    <a:band2V>
      <a:tcStyle>
        <a:tcBdr>
          <a:lef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2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firstRow>
  </a:tblStyle>
  <a:tblStyle styleId="{073A0DAA-6AF3-43AB-8588-CEC1D06C72B9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7E7"/>
          </a:solidFill>
        </a:fill>
      </a:tcStyle>
    </a:wholeTbl>
    <a:band1H>
      <a:tcStyle>
        <a:tcBdr/>
        <a:fill>
          <a:solidFill>
            <a:srgbClr val="CBCBCB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BCBCB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000000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000000"/>
          </a:solidFill>
        </a:fill>
      </a:tcStyle>
    </a:firstRow>
  </a:tblStyle>
  <a:tblStyle styleId="{69012ECD-51FC-41F1-AA8D-1B2483CD663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band1H>
    <a:band1V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1V>
    <a:band2V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2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Row>
  </a:tblStyle>
  <a:tblStyle styleId="{3C2FFA5D-87B4-456A-9821-1D502468CF0F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wholeTbl>
    <a:band1H>
      <a:tcStyle>
        <a:tcBdr/>
        <a:fill>
          <a:solidFill>
            <a:srgbClr val="4472C4"/>
          </a:solidFill>
        </a:fill>
      </a:tcStyle>
    </a:band1H>
    <a:band2H>
      <a:tcStyle>
        <a:tcBdr/>
        <a:fill>
          <a:solidFill>
            <a:srgbClr val="4472C4"/>
          </a:solidFill>
        </a:fill>
      </a:tcStyle>
    </a:band2H>
    <a:band1V>
      <a:tcStyle>
        <a:tcBdr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band1V>
    <a:band2V>
      <a:tcStyle>
        <a:tcBdr/>
        <a:fill>
          <a:solidFill>
            <a:srgbClr val="4472C4"/>
          </a:solidFill>
        </a:fill>
      </a:tcStyle>
    </a:band2V>
    <a:lastCol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lastCol>
    <a:firstCol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6E25E649-3F16-4E02-A733-19D2CDBF48F0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7E7E7"/>
          </a:solidFill>
        </a:fill>
      </a:tcStyle>
    </a:band1H>
    <a:band1V>
      <a:tcStyle>
        <a:tcBdr/>
        <a:fill>
          <a:solidFill>
            <a:srgbClr val="E7E7E7"/>
          </a:solidFill>
        </a:fill>
      </a:tcStyle>
    </a:band1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66AC0E5-F534-0F99-A3B1-9263992179CA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3E745-9955-290B-63F1-C07F9C86B777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65C7EE8-ED16-49B9-ACB4-C202D6C89960}" type="datetime1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12/10/2025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D316A9-F325-94D6-C601-7FCF4B079FA1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781B0-3084-82DD-272E-BEC20D009E5D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A9C4C37-813D-48DF-B15E-4B033A2E2FD7}" type="slidenum">
              <a:t>‹#›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22997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6159608-C1FC-ED85-7E09-138C8E0BF09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713C9-8436-C0DA-50AF-526A91108941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CD7E9E00-5EFF-4905-BE0F-6837B8CF40DF}" type="datetime1">
              <a:rPr lang="en-US"/>
              <a:pPr lvl="0"/>
              <a:t>12/10/2025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E293C88-C3A8-0A42-F2A9-1C883951FF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9857E9B-0D8E-207C-4FE0-57346102CAD0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A80113-4991-2830-3BD0-E4088700055A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CD423-97D6-97EC-5472-3758D2A4BF5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AC3F7913-4CAF-4859-B8C6-554BB1C33F8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73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0A62AC-A344-2837-CED1-E81AB4A12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FB9C4-3603-1545-A8E8-A3CF77DCC86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9AAB6-624A-1802-3E34-D03893D1D8C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7BBED45-E1E2-430C-9789-B96426A66CC6}" type="slidenum">
              <a:t>1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E3AB35-B99E-22A6-61C7-8F653BB9B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204FA2-AA3C-1BC8-50BB-EBCD833D493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03CBA-38C8-6CB9-2971-C442B433156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731142D-77F1-4086-AA9F-AE11E53ACC4F}" type="slidenum">
              <a:t>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39FFEA-40A2-5C64-D46A-E437E2FD7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68B20F-B7ED-45ED-F2BD-005C2E1B6A0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0D14A-2E8C-8F92-ECB9-CB20848E69EF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24C568B-7A7A-4F0B-9264-33AF7C62395C}" type="slidenum">
              <a:t>3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A1C7D-E049-C419-2F89-0155883C4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0286C8-B7F4-D017-7B60-ADF1052B92E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ED5F8-293B-0834-69A1-A90075E260A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DA80830-FE8E-46A4-B606-2A9D322ABF49}" type="slidenum">
              <a:t>4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D4826-F857-2A34-856C-B436781E1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5A4255-2A6A-C8E0-AADF-DD3B6A08D09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AA041-498B-2E1E-2D76-8B2084CFE33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EADD7E2-AA10-4EDB-8399-AA0600DB8C3C}" type="slidenum">
              <a:t>5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D7E2B6-46A3-4289-836D-9758B39192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132110-EF52-3B5D-3A45-A6B63F6EB23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86248-7817-E31F-E647-8E8A56B804D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90A7070-518A-4018-970E-51FA278812C8}" type="slidenum">
              <a:t>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33E0EE-65A1-2E88-C4DF-46DF28BF2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06AE11-A460-6B68-427C-25CEB8EBD77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C25C2-B1C0-F66E-D5B4-45546946EA5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B702E79-4967-473F-A087-47A6E5783DA2}" type="slidenum">
              <a:t>7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48C19F-2CFC-598D-08CF-6F4B66214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84F8B4-CE84-2078-42C8-D61FDE72F87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0557E-6965-FE40-2E67-64C3BB41E68A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299F375-620D-425D-8A9A-95E4AABAE8F4}" type="slidenum">
              <a:t>8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67866-8A95-7B3A-4C40-277B6B8F65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3" y="2773676"/>
            <a:ext cx="5674364" cy="3200400"/>
          </a:xfrm>
        </p:spPr>
        <p:txBody>
          <a:bodyPr anchor="b"/>
          <a:lstStyle>
            <a:lvl1pPr>
              <a:defRPr sz="4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3" name="Graphic 6">
            <a:extLst>
              <a:ext uri="{FF2B5EF4-FFF2-40B4-BE49-F238E27FC236}">
                <a16:creationId xmlns:a16="http://schemas.microsoft.com/office/drawing/2014/main" id="{0D343850-308C-EBA3-F097-9059D0C26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>
            <a:fillRect/>
          </a:stretch>
        </p:blipFill>
        <p:spPr>
          <a:xfrm>
            <a:off x="0" y="0"/>
            <a:ext cx="8264996" cy="532014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60603229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8">
            <a:extLst>
              <a:ext uri="{FF2B5EF4-FFF2-40B4-BE49-F238E27FC236}">
                <a16:creationId xmlns:a16="http://schemas.microsoft.com/office/drawing/2014/main" id="{2BF13A57-3A20-78EF-9E7C-41B325136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>
            <a:fillRect/>
          </a:stretch>
        </p:blipFill>
        <p:spPr>
          <a:xfrm rot="5400013">
            <a:off x="7851413" y="-1244553"/>
            <a:ext cx="3096030" cy="558513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9">
            <a:extLst>
              <a:ext uri="{FF2B5EF4-FFF2-40B4-BE49-F238E27FC236}">
                <a16:creationId xmlns:a16="http://schemas.microsoft.com/office/drawing/2014/main" id="{F5AE5011-5768-9C4C-CD5A-0DC928258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>
            <a:fillRect/>
          </a:stretch>
        </p:blipFill>
        <p:spPr>
          <a:xfrm>
            <a:off x="7010403" y="0"/>
            <a:ext cx="5181603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92DA8B0-7D14-0209-AC74-72066A37DF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315532"/>
            <a:ext cx="5181603" cy="2376863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EBACCC14-6B24-AADF-7DCC-A8C22314855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914400" y="2844798"/>
            <a:ext cx="5181603" cy="3128967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B59D5-DAD6-552F-5A0E-E76A368D147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14400" y="6246257"/>
            <a:ext cx="631064" cy="296210"/>
          </a:xfrm>
        </p:spPr>
        <p:txBody>
          <a:bodyPr/>
          <a:lstStyle>
            <a:lvl1pPr algn="l">
              <a:defRPr sz="1200">
                <a:solidFill>
                  <a:srgbClr val="000000"/>
                </a:solidFill>
              </a:defRPr>
            </a:lvl1pPr>
          </a:lstStyle>
          <a:p>
            <a:pPr lvl="0"/>
            <a:fld id="{4E9165CF-4F22-4CD0-8F18-E82F436F33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3570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6">
            <a:extLst>
              <a:ext uri="{FF2B5EF4-FFF2-40B4-BE49-F238E27FC236}">
                <a16:creationId xmlns:a16="http://schemas.microsoft.com/office/drawing/2014/main" id="{304F0457-B190-39C8-512B-2E0CD2F31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>
            <a:fillRect/>
          </a:stretch>
        </p:blipFill>
        <p:spPr>
          <a:xfrm>
            <a:off x="0" y="0"/>
            <a:ext cx="4239204" cy="377618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CE5E5A2-8143-9E10-0237-5CF7CC0B42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580637"/>
            <a:ext cx="5181603" cy="3368823"/>
          </a:xfrm>
        </p:spPr>
        <p:txBody>
          <a:bodyPr anchor="b"/>
          <a:lstStyle>
            <a:lvl1pPr>
              <a:defRPr sz="4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7BBEAE9D-7ED9-0641-1618-036FAF230454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085844" y="-10158"/>
            <a:ext cx="6116321" cy="6868158"/>
          </a:xfrm>
        </p:spPr>
        <p:txBody>
          <a:bodyPr anchorCtr="1"/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95197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verview">
    <p:bg>
      <p:bgPr>
        <a:solidFill>
          <a:srgbClr val="E9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7">
            <a:extLst>
              <a:ext uri="{FF2B5EF4-FFF2-40B4-BE49-F238E27FC236}">
                <a16:creationId xmlns:a16="http://schemas.microsoft.com/office/drawing/2014/main" id="{462FE492-4DB1-4FB7-976F-DB8663EBA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>
            <a:fillRect/>
          </a:stretch>
        </p:blipFill>
        <p:spPr>
          <a:xfrm rot="10799991">
            <a:off x="6324593" y="0"/>
            <a:ext cx="5867403" cy="164732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7649E9C-45E8-36B6-B497-C3BB83D562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6480" y="1310636"/>
            <a:ext cx="4805994" cy="2689625"/>
          </a:xfrm>
        </p:spPr>
        <p:txBody>
          <a:bodyPr anchor="b"/>
          <a:lstStyle>
            <a:lvl1pPr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A2C51EA-CF65-8A81-8905-BCAA6E99D41F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-10158"/>
            <a:ext cx="6096003" cy="6858000"/>
          </a:xfrm>
        </p:spPr>
        <p:txBody>
          <a:bodyPr anchorCtr="1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79DC8871-C2C8-AA64-5BAB-A713C6864E3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126159" y="4172992"/>
            <a:ext cx="4805994" cy="238973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7464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2">
            <a:extLst>
              <a:ext uri="{FF2B5EF4-FFF2-40B4-BE49-F238E27FC236}">
                <a16:creationId xmlns:a16="http://schemas.microsoft.com/office/drawing/2014/main" id="{F64DD4E8-65E1-D373-ED2F-6945969E0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>
            <a:fillRect/>
          </a:stretch>
        </p:blipFill>
        <p:spPr>
          <a:xfrm flipH="1">
            <a:off x="9135413" y="0"/>
            <a:ext cx="3056583" cy="685800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8">
            <a:extLst>
              <a:ext uri="{FF2B5EF4-FFF2-40B4-BE49-F238E27FC236}">
                <a16:creationId xmlns:a16="http://schemas.microsoft.com/office/drawing/2014/main" id="{A0E5BC79-64F7-C963-5189-266536FE9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>
            <a:fillRect/>
          </a:stretch>
        </p:blipFill>
        <p:spPr>
          <a:xfrm>
            <a:off x="7810503" y="3025136"/>
            <a:ext cx="4381503" cy="383286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3376AE1-7DBE-A972-369C-0B94D191EA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365129"/>
            <a:ext cx="7273640" cy="1646550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DF4E3471-5497-63C1-2503-D9EEB80BAB0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914400" y="2011359"/>
            <a:ext cx="7273640" cy="415575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93B37-28E7-E1BF-C7A6-4BB7AE97145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14400" y="6246257"/>
            <a:ext cx="631064" cy="296210"/>
          </a:xfrm>
        </p:spPr>
        <p:txBody>
          <a:bodyPr/>
          <a:lstStyle>
            <a:lvl1pPr algn="l">
              <a:defRPr sz="1200">
                <a:solidFill>
                  <a:srgbClr val="000000"/>
                </a:solidFill>
              </a:defRPr>
            </a:lvl1pPr>
          </a:lstStyle>
          <a:p>
            <a:pPr lvl="0"/>
            <a:fld id="{ADE2FB08-F917-4C93-8A10-DACAAED7F83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5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and left Imag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5">
            <a:extLst>
              <a:ext uri="{FF2B5EF4-FFF2-40B4-BE49-F238E27FC236}">
                <a16:creationId xmlns:a16="http://schemas.microsoft.com/office/drawing/2014/main" id="{3BD38560-1DEF-7450-3793-126E95900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4">
            <a:off x="8039104" y="228589"/>
            <a:ext cx="4381503" cy="392430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5FD691E-A561-0124-32F9-1BA4C7990D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3" y="375288"/>
            <a:ext cx="4896676" cy="3624983"/>
          </a:xfrm>
        </p:spPr>
        <p:txBody>
          <a:bodyPr anchor="b"/>
          <a:lstStyle>
            <a:lvl1pPr>
              <a:defRPr sz="4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AEF69BF7-B14E-2EE1-F6A3-AA13DF6B1B2F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6096003" cy="6858000"/>
          </a:xfr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8E48B6C0-24AC-DCB8-4568-CA7FE06452BF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096003" y="4172992"/>
            <a:ext cx="4896676" cy="2309728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rgbClr val="FFFFFF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defRPr sz="1600">
                <a:solidFill>
                  <a:srgbClr val="FFFFFF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defRPr sz="1400">
                <a:solidFill>
                  <a:srgbClr val="FFFFFF"/>
                </a:solidFill>
              </a:defRPr>
            </a:lvl4pPr>
            <a:lvl5pPr marL="2114549" indent="-285750">
              <a:spcBef>
                <a:spcPts val="0"/>
              </a:spcBef>
              <a:spcAft>
                <a:spcPts val="1200"/>
              </a:spcAft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2250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 1">
    <p:bg>
      <p:bgPr>
        <a:solidFill>
          <a:srgbClr val="E9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7">
            <a:extLst>
              <a:ext uri="{FF2B5EF4-FFF2-40B4-BE49-F238E27FC236}">
                <a16:creationId xmlns:a16="http://schemas.microsoft.com/office/drawing/2014/main" id="{5F80F4E2-5411-A0A4-A0A0-E368B9A46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>
            <a:fillRect/>
          </a:stretch>
        </p:blipFill>
        <p:spPr>
          <a:xfrm rot="10799991">
            <a:off x="9198874" y="0"/>
            <a:ext cx="2993132" cy="151790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8">
            <a:extLst>
              <a:ext uri="{FF2B5EF4-FFF2-40B4-BE49-F238E27FC236}">
                <a16:creationId xmlns:a16="http://schemas.microsoft.com/office/drawing/2014/main" id="{7C3DAC4F-BD24-AE7E-6B67-40CCB5BA2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>
            <a:fillRect/>
          </a:stretch>
        </p:blipFill>
        <p:spPr>
          <a:xfrm rot="16200004">
            <a:off x="961221" y="4525178"/>
            <a:ext cx="1371600" cy="329404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9">
            <a:extLst>
              <a:ext uri="{FF2B5EF4-FFF2-40B4-BE49-F238E27FC236}">
                <a16:creationId xmlns:a16="http://schemas.microsoft.com/office/drawing/2014/main" id="{75DDA2E2-9602-BE8E-0FDD-30D994D0BB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365129"/>
            <a:ext cx="10363196" cy="1629597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F0F1C921-5833-EBBB-F3BE-8937E729A44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914400" y="2022250"/>
            <a:ext cx="4992706" cy="3747183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899135A4-2BA8-D1FC-C7E5-A5F412FD6F0D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284890" y="2022250"/>
            <a:ext cx="4992706" cy="3747183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0B80671-33E0-67D5-3A64-4EB2286C509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14400" y="6246257"/>
            <a:ext cx="631064" cy="296210"/>
          </a:xfrm>
        </p:spPr>
        <p:txBody>
          <a:bodyPr/>
          <a:lstStyle>
            <a:lvl1pPr algn="l">
              <a:defRPr sz="1200">
                <a:solidFill>
                  <a:srgbClr val="000000"/>
                </a:solidFill>
              </a:defRPr>
            </a:lvl1pPr>
          </a:lstStyle>
          <a:p>
            <a:pPr lvl="0"/>
            <a:fld id="{83654369-34B5-44CA-BE01-2AA3D4DC9E1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424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7">
            <a:extLst>
              <a:ext uri="{FF2B5EF4-FFF2-40B4-BE49-F238E27FC236}">
                <a16:creationId xmlns:a16="http://schemas.microsoft.com/office/drawing/2014/main" id="{18EF1752-8A3B-1644-0623-DC0EB267A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>
            <a:fillRect/>
          </a:stretch>
        </p:blipFill>
        <p:spPr>
          <a:xfrm flipH="1">
            <a:off x="-26828" y="5950037"/>
            <a:ext cx="2513521" cy="91440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8">
            <a:extLst>
              <a:ext uri="{FF2B5EF4-FFF2-40B4-BE49-F238E27FC236}">
                <a16:creationId xmlns:a16="http://schemas.microsoft.com/office/drawing/2014/main" id="{E6590C93-A217-3C46-DD9F-042DE89B4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>
            <a:fillRect/>
          </a:stretch>
        </p:blipFill>
        <p:spPr>
          <a:xfrm rot="5400013">
            <a:off x="9553760" y="-952311"/>
            <a:ext cx="1685925" cy="359054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9">
            <a:extLst>
              <a:ext uri="{FF2B5EF4-FFF2-40B4-BE49-F238E27FC236}">
                <a16:creationId xmlns:a16="http://schemas.microsoft.com/office/drawing/2014/main" id="{5FEC055D-D1B1-885B-1084-7CD8AA6D9D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365129"/>
            <a:ext cx="10439403" cy="1617015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F2D9746-69F5-E539-2A6D-D4495A57ED6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914400" y="2022250"/>
            <a:ext cx="3310128" cy="3747183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82251593-FF15-7ECA-F905-7E559E4E793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02312" y="2018117"/>
            <a:ext cx="6751490" cy="3747183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A007C35-32FD-680B-2C9D-2EC72935577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14400" y="6246257"/>
            <a:ext cx="631064" cy="296210"/>
          </a:xfrm>
        </p:spPr>
        <p:txBody>
          <a:bodyPr/>
          <a:lstStyle>
            <a:lvl1pPr algn="l">
              <a:defRPr sz="1200">
                <a:solidFill>
                  <a:srgbClr val="000000"/>
                </a:solidFill>
              </a:defRPr>
            </a:lvl1pPr>
          </a:lstStyle>
          <a:p>
            <a:pPr lvl="0"/>
            <a:fld id="{B02B0C67-CF19-4700-836C-D36F9D27B91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48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and right Image">
    <p:bg>
      <p:bgPr>
        <a:solidFill>
          <a:srgbClr val="E9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7">
            <a:extLst>
              <a:ext uri="{FF2B5EF4-FFF2-40B4-BE49-F238E27FC236}">
                <a16:creationId xmlns:a16="http://schemas.microsoft.com/office/drawing/2014/main" id="{A84571A5-16DF-24A4-899B-937F33FA9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>
            <a:fillRect/>
          </a:stretch>
        </p:blipFill>
        <p:spPr>
          <a:xfrm rot="5400013">
            <a:off x="-115159" y="115159"/>
            <a:ext cx="1895057" cy="166473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8">
            <a:extLst>
              <a:ext uri="{FF2B5EF4-FFF2-40B4-BE49-F238E27FC236}">
                <a16:creationId xmlns:a16="http://schemas.microsoft.com/office/drawing/2014/main" id="{E3675A39-68CD-4D20-15CA-AD585F6775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384" y="446309"/>
            <a:ext cx="5179618" cy="1448747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3B82AEE-0B97-2117-795D-6DA52B2E9DE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914400" y="2022250"/>
            <a:ext cx="5181603" cy="3747183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11378F1-8CCF-FE53-3815-1F8B14FFB58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14400" y="6246257"/>
            <a:ext cx="631064" cy="296210"/>
          </a:xfrm>
        </p:spPr>
        <p:txBody>
          <a:bodyPr/>
          <a:lstStyle>
            <a:lvl1pPr algn="l">
              <a:defRPr sz="1200">
                <a:solidFill>
                  <a:srgbClr val="000000"/>
                </a:solidFill>
              </a:defRPr>
            </a:lvl1pPr>
          </a:lstStyle>
          <a:p>
            <a:pPr lvl="0"/>
            <a:fld id="{5A0876D4-2EC7-4AD3-9722-BF6DB87547F4}" type="slidenum">
              <a:t>‹#›</a:t>
            </a:fld>
            <a:endParaRPr lang="en-US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402661A-6B50-9D68-1F0A-20355539AFE3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076946" y="0"/>
            <a:ext cx="6115049" cy="6868890"/>
          </a:xfrm>
        </p:spPr>
        <p:txBody>
          <a:bodyPr/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94905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111FDBD-1EFC-7E53-3210-A4F56AECF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>
            <a:fillRect/>
          </a:stretch>
        </p:blipFill>
        <p:spPr>
          <a:xfrm>
            <a:off x="9229725" y="1835237"/>
            <a:ext cx="2962271" cy="502276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angle 13">
            <a:extLst>
              <a:ext uri="{FF2B5EF4-FFF2-40B4-BE49-F238E27FC236}">
                <a16:creationId xmlns:a16="http://schemas.microsoft.com/office/drawing/2014/main" id="{7182B42F-71FF-1315-4200-4D8A8D52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3417" y="1835237"/>
            <a:ext cx="7000875" cy="4279812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Tenorite"/>
            </a:endParaRPr>
          </a:p>
        </p:txBody>
      </p:sp>
      <p:pic>
        <p:nvPicPr>
          <p:cNvPr id="4" name="Graphic 8">
            <a:extLst>
              <a:ext uri="{FF2B5EF4-FFF2-40B4-BE49-F238E27FC236}">
                <a16:creationId xmlns:a16="http://schemas.microsoft.com/office/drawing/2014/main" id="{A7B968AC-8C10-0AB7-2D96-5FB711F4B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>
            <a:fillRect/>
          </a:stretch>
        </p:blipFill>
        <p:spPr>
          <a:xfrm rot="16200004">
            <a:off x="149650" y="-149650"/>
            <a:ext cx="1672373" cy="197167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itle 9">
            <a:extLst>
              <a:ext uri="{FF2B5EF4-FFF2-40B4-BE49-F238E27FC236}">
                <a16:creationId xmlns:a16="http://schemas.microsoft.com/office/drawing/2014/main" id="{22B5E9B6-ED80-2EBE-DF54-20091D1869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365129"/>
            <a:ext cx="10363206" cy="16034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929C7E02-1E26-37EA-0B21-73EFEE273D7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914400" y="2022250"/>
            <a:ext cx="3299008" cy="3914912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able Placeholder 12">
            <a:extLst>
              <a:ext uri="{FF2B5EF4-FFF2-40B4-BE49-F238E27FC236}">
                <a16:creationId xmlns:a16="http://schemas.microsoft.com/office/drawing/2014/main" id="{3092B3E8-59EB-9771-95D2-537E22C00467}"/>
              </a:ext>
            </a:extLst>
          </p:cNvPr>
          <p:cNvSpPr txBox="1">
            <a:spLocks noGrp="1"/>
          </p:cNvSpPr>
          <p:nvPr>
            <p:ph type="tbl" idx="4294967295"/>
          </p:nvPr>
        </p:nvSpPr>
        <p:spPr>
          <a:xfrm>
            <a:off x="4602166" y="2017715"/>
            <a:ext cx="6675440" cy="393224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/>
              <a:t>Click icon to insert table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0857D9-5616-4103-9A6D-B90D8CF24A7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14400" y="6246257"/>
            <a:ext cx="631064" cy="296210"/>
          </a:xfrm>
        </p:spPr>
        <p:txBody>
          <a:bodyPr/>
          <a:lstStyle>
            <a:lvl1pPr algn="l">
              <a:defRPr sz="1200">
                <a:solidFill>
                  <a:srgbClr val="000000"/>
                </a:solidFill>
              </a:defRPr>
            </a:lvl1pPr>
          </a:lstStyle>
          <a:p>
            <a:pPr lvl="0"/>
            <a:fld id="{F58E7604-6D8D-4328-AEA0-F4F15EE956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42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 3">
    <p:bg>
      <p:bgPr>
        <a:solidFill>
          <a:srgbClr val="E9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7">
            <a:extLst>
              <a:ext uri="{FF2B5EF4-FFF2-40B4-BE49-F238E27FC236}">
                <a16:creationId xmlns:a16="http://schemas.microsoft.com/office/drawing/2014/main" id="{E0D8EE09-53EF-619B-57C3-AF8945FD6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>
            <a:fillRect/>
          </a:stretch>
        </p:blipFill>
        <p:spPr>
          <a:xfrm rot="10799991">
            <a:off x="10506081" y="3984077"/>
            <a:ext cx="1685925" cy="287392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8">
            <a:extLst>
              <a:ext uri="{FF2B5EF4-FFF2-40B4-BE49-F238E27FC236}">
                <a16:creationId xmlns:a16="http://schemas.microsoft.com/office/drawing/2014/main" id="{CAEDF9ED-1C26-9150-FEB2-CAF68B1A5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>
            <a:fillRect/>
          </a:stretch>
        </p:blipFill>
        <p:spPr>
          <a:xfrm rot="16200004" flipH="1">
            <a:off x="9781524" y="-311504"/>
            <a:ext cx="2098959" cy="272198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9">
            <a:extLst>
              <a:ext uri="{FF2B5EF4-FFF2-40B4-BE49-F238E27FC236}">
                <a16:creationId xmlns:a16="http://schemas.microsoft.com/office/drawing/2014/main" id="{7A5E0FEF-8789-B733-6AA5-E6213E7C3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988" y="434221"/>
            <a:ext cx="9524993" cy="1499625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B0E65492-ECAB-1785-9D92-2668922B795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914400" y="2022250"/>
            <a:ext cx="6257367" cy="3914912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spcBef>
                <a:spcPts val="0"/>
              </a:spcBef>
              <a:spcAft>
                <a:spcPts val="1200"/>
              </a:spcAft>
              <a:defRPr sz="1800"/>
            </a:lvl3pPr>
            <a:lvl4pPr marL="914400">
              <a:spcBef>
                <a:spcPts val="0"/>
              </a:spcBef>
              <a:spcAft>
                <a:spcPts val="1200"/>
              </a:spcAft>
              <a:defRPr sz="1600"/>
            </a:lvl4pPr>
            <a:lvl5pPr marL="1143000">
              <a:spcBef>
                <a:spcPts val="0"/>
              </a:spcBef>
              <a:spcAft>
                <a:spcPts val="1200"/>
              </a:spcAft>
              <a:defRPr sz="16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D36D22D3-9DF6-3438-556C-6C84EB467E4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967478" y="2018117"/>
            <a:ext cx="2449513" cy="3931920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77F9AC1-DEFD-48D1-9E24-638B0B58435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14400" y="6246257"/>
            <a:ext cx="631064" cy="296210"/>
          </a:xfrm>
        </p:spPr>
        <p:txBody>
          <a:bodyPr/>
          <a:lstStyle>
            <a:lvl1pPr algn="l">
              <a:defRPr sz="1200">
                <a:solidFill>
                  <a:srgbClr val="000000"/>
                </a:solidFill>
              </a:defRPr>
            </a:lvl1pPr>
          </a:lstStyle>
          <a:p>
            <a:pPr lvl="0"/>
            <a:fld id="{8D1CD25C-A336-403D-80FC-4136303002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9673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2">
            <a:extLst>
              <a:ext uri="{FF2B5EF4-FFF2-40B4-BE49-F238E27FC236}">
                <a16:creationId xmlns:a16="http://schemas.microsoft.com/office/drawing/2014/main" id="{38363A89-8D72-0E6B-A4D9-D29F6AF4A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>
            <a:fillRect/>
          </a:stretch>
        </p:blipFill>
        <p:spPr>
          <a:xfrm rot="5400013">
            <a:off x="9553760" y="-952311"/>
            <a:ext cx="1685925" cy="359054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256C63E3-C0D9-5EAF-9935-163861BB6B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3544" y="584475"/>
            <a:ext cx="10354052" cy="1209769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Table Placeholder 8">
            <a:extLst>
              <a:ext uri="{FF2B5EF4-FFF2-40B4-BE49-F238E27FC236}">
                <a16:creationId xmlns:a16="http://schemas.microsoft.com/office/drawing/2014/main" id="{6AA1370B-7E7A-A80A-B3E2-9B8C4A9861FC}"/>
              </a:ext>
            </a:extLst>
          </p:cNvPr>
          <p:cNvSpPr txBox="1">
            <a:spLocks noGrp="1"/>
          </p:cNvSpPr>
          <p:nvPr>
            <p:ph type="tbl" idx="4294967295"/>
          </p:nvPr>
        </p:nvSpPr>
        <p:spPr>
          <a:xfrm>
            <a:off x="923544" y="2009778"/>
            <a:ext cx="10354052" cy="3931920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icon to add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5B97DB-E22D-D1F9-A176-ED44C008F76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14400" y="6246257"/>
            <a:ext cx="631064" cy="296210"/>
          </a:xfrm>
        </p:spPr>
        <p:txBody>
          <a:bodyPr/>
          <a:lstStyle>
            <a:lvl1pPr algn="l">
              <a:defRPr sz="1200">
                <a:solidFill>
                  <a:srgbClr val="000000"/>
                </a:solidFill>
              </a:defRPr>
            </a:lvl1pPr>
          </a:lstStyle>
          <a:p>
            <a:pPr lvl="0"/>
            <a:fld id="{86D936BA-8B4E-48DE-A484-A0813953BE9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509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F394F0FE-1EF6-302D-2F71-0FCB453FA1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1513" y="374090"/>
            <a:ext cx="5057107" cy="3624983"/>
          </a:xfrm>
        </p:spPr>
        <p:txBody>
          <a:bodyPr anchor="b"/>
          <a:lstStyle>
            <a:lvl1pPr>
              <a:defRPr sz="4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B905D-DFB6-E70B-C36E-E1E69BB87A1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091513" y="4172992"/>
            <a:ext cx="5057107" cy="251936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FFFFFF"/>
                </a:solidFill>
              </a:defRPr>
            </a:lvl1pPr>
            <a:lvl2pPr marL="742950" indent="-285750">
              <a:spcBef>
                <a:spcPts val="0"/>
              </a:spcBef>
              <a:defRPr sz="1800">
                <a:solidFill>
                  <a:srgbClr val="FFFFFF"/>
                </a:solidFill>
              </a:defRPr>
            </a:lvl2pPr>
            <a:lvl3pPr marL="1200150" indent="-285750">
              <a:spcBef>
                <a:spcPts val="0"/>
              </a:spcBef>
              <a:defRPr sz="1600">
                <a:solidFill>
                  <a:srgbClr val="FFFFFF"/>
                </a:solidFill>
              </a:defRPr>
            </a:lvl3pPr>
            <a:lvl4pPr marL="1657350" indent="-285750">
              <a:spcBef>
                <a:spcPts val="0"/>
              </a:spcBef>
              <a:defRPr sz="1400">
                <a:solidFill>
                  <a:srgbClr val="FFFFFF"/>
                </a:solidFill>
              </a:defRPr>
            </a:lvl4pPr>
            <a:lvl5pPr marL="2000250" indent="-171450">
              <a:spcBef>
                <a:spcPts val="0"/>
              </a:spcBef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B8AAC912-8307-0E69-62D9-1D868790E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>
            <a:fillRect/>
          </a:stretch>
        </p:blipFill>
        <p:spPr>
          <a:xfrm flipH="1">
            <a:off x="0" y="0"/>
            <a:ext cx="5181603" cy="685800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27999895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75705F-0B1E-8462-D61E-35BDD1C0B5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1B175-7DD6-CF42-A4CA-8A3FFC3359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F3994-32C6-A091-13E9-9043B232230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0" i="0" u="none" strike="noStrike" kern="1200" cap="none" spc="0" baseline="0">
                <a:solidFill>
                  <a:srgbClr val="898989"/>
                </a:solidFill>
                <a:uFillTx/>
                <a:latin typeface="Tenorite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09657-4FD3-EF78-C51C-DF7E592B3469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0" i="0" u="none" strike="noStrike" kern="1200" cap="none" spc="0" baseline="0">
                <a:solidFill>
                  <a:srgbClr val="898989"/>
                </a:solidFill>
                <a:uFillTx/>
                <a:latin typeface="Tenorite"/>
              </a:defRPr>
            </a:lvl1pPr>
          </a:lstStyle>
          <a:p>
            <a:pPr lvl="0"/>
            <a:r>
              <a:rPr lang="en-US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30451-AA05-E5D4-3C1E-1EB9291CD4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0" i="0" u="none" strike="noStrike" kern="1200" cap="none" spc="0" baseline="0">
                <a:solidFill>
                  <a:srgbClr val="898989"/>
                </a:solidFill>
                <a:uFillTx/>
                <a:latin typeface="Tenorite"/>
              </a:defRPr>
            </a:lvl1pPr>
          </a:lstStyle>
          <a:p>
            <a:pPr lvl="0"/>
            <a:fld id="{6D243F88-0219-4014-9821-292D554FC93C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all" spc="0" baseline="0">
          <a:solidFill>
            <a:srgbClr val="000000"/>
          </a:solidFill>
          <a:uFillTx/>
          <a:latin typeface="Tenorite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Tenorite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Tenorite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Tenorite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Tenorite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Tenorite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52AA-4031-60E0-3EAE-3A5EA355BD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636" y="1511804"/>
            <a:ext cx="5674364" cy="3200400"/>
          </a:xfrm>
        </p:spPr>
        <p:txBody>
          <a:bodyPr/>
          <a:lstStyle/>
          <a:p>
            <a:pPr lvl="0"/>
            <a:r>
              <a:rPr lang="en-US" dirty="0"/>
              <a:t>Just apply – </a:t>
            </a:r>
            <a:r>
              <a:rPr lang="en-IE" dirty="0"/>
              <a:t>Intelligent Job Recommendation System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030365-5EDF-DEA9-A379-BFE886F69AE6}"/>
              </a:ext>
            </a:extLst>
          </p:cNvPr>
          <p:cNvSpPr txBox="1"/>
          <p:nvPr/>
        </p:nvSpPr>
        <p:spPr>
          <a:xfrm>
            <a:off x="5221224" y="4986008"/>
            <a:ext cx="75163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Daniel Aigbe – B00150058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Supervisor: Luke Raeside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School of Computing — Technological University Dublin</a:t>
            </a:r>
          </a:p>
          <a:p>
            <a:r>
              <a:rPr lang="en-GB" i="1" dirty="0">
                <a:solidFill>
                  <a:schemeClr val="bg1"/>
                </a:solidFill>
              </a:rPr>
              <a:t>A cloud-based platform that uses NLP and analytics to match CVs to relevant job opportunities.</a:t>
            </a:r>
            <a:endParaRPr lang="en-GB" dirty="0">
              <a:solidFill>
                <a:schemeClr val="bg1"/>
              </a:solidFill>
            </a:endParaRPr>
          </a:p>
          <a:p>
            <a:endParaRPr lang="en-I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718B31-CF55-732E-20DE-500C04B115A4}"/>
              </a:ext>
            </a:extLst>
          </p:cNvPr>
          <p:cNvSpPr txBox="1"/>
          <p:nvPr/>
        </p:nvSpPr>
        <p:spPr>
          <a:xfrm>
            <a:off x="6542020" y="3404620"/>
            <a:ext cx="351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8B0F1426-30A3-F0C9-770B-8004F59FBF8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Introduction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4C4AD55-03BB-7B29-91D8-3B94C91BBA8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0" y="2844798"/>
            <a:ext cx="5181603" cy="3128967"/>
          </a:xfrm>
        </p:spPr>
        <p:txBody>
          <a:bodyPr/>
          <a:lstStyle/>
          <a:p>
            <a:pPr marL="342900" lvl="0" indent="-342900">
              <a:lnSpc>
                <a:spcPct val="120000"/>
              </a:lnSpc>
            </a:pPr>
            <a:r>
              <a:rPr lang="en-IE" sz="2000" dirty="0"/>
              <a:t>Problem &amp; Motivation</a:t>
            </a:r>
          </a:p>
          <a:p>
            <a:pPr marL="342900" lvl="0" indent="-342900">
              <a:lnSpc>
                <a:spcPct val="120000"/>
              </a:lnSpc>
            </a:pPr>
            <a:r>
              <a:rPr lang="en-IE" sz="2000" dirty="0"/>
              <a:t>System Architecture</a:t>
            </a:r>
          </a:p>
          <a:p>
            <a:pPr marL="342900" lvl="0" indent="-342900">
              <a:lnSpc>
                <a:spcPct val="120000"/>
              </a:lnSpc>
            </a:pPr>
            <a:r>
              <a:rPr lang="en-IE" sz="2000" dirty="0"/>
              <a:t>Current Progress</a:t>
            </a:r>
          </a:p>
          <a:p>
            <a:pPr marL="342900" lvl="0" indent="-342900">
              <a:lnSpc>
                <a:spcPct val="120000"/>
              </a:lnSpc>
            </a:pPr>
            <a:r>
              <a:rPr lang="en-IE" sz="2000" dirty="0"/>
              <a:t>Future Development Roadmap</a:t>
            </a:r>
          </a:p>
          <a:p>
            <a:pPr marL="342900" lvl="0" indent="-342900">
              <a:lnSpc>
                <a:spcPct val="120000"/>
              </a:lnSpc>
            </a:pPr>
            <a:r>
              <a:rPr lang="en-IE" sz="2000" dirty="0"/>
              <a:t>Technologies &amp; Justification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IE" sz="2000" dirty="0"/>
              <a:t>End.</a:t>
            </a:r>
            <a:endParaRPr lang="en-US" sz="2000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1039FEFB-D435-1480-A61F-ABA34128B8B7}"/>
              </a:ext>
            </a:extLst>
          </p:cNvPr>
          <p:cNvSpPr txBox="1"/>
          <p:nvPr/>
        </p:nvSpPr>
        <p:spPr>
          <a:xfrm>
            <a:off x="914400" y="6246257"/>
            <a:ext cx="631064" cy="2962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892A778-1A8C-481C-9748-AD17D1516F90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Tenorite"/>
              </a:rPr>
              <a:t>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Tenorit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63F953B4-47AC-627C-4D06-68FF077092F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E" dirty="0"/>
              <a:t>Problem &amp; Motivation</a:t>
            </a:r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E1FE0F8-B7BA-51F2-7427-6A073287823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0" y="2844798"/>
            <a:ext cx="5181603" cy="3128967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sz="1400" b="1" dirty="0"/>
              <a:t>The 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Traditional job platforms rely on </a:t>
            </a:r>
            <a:r>
              <a:rPr lang="en-GB" sz="1400" b="1" dirty="0"/>
              <a:t>keyword matching</a:t>
            </a:r>
            <a:r>
              <a:rPr lang="en-GB" sz="1400" dirty="0"/>
              <a:t>, leading to poor recommendation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Manual CV screening is </a:t>
            </a:r>
            <a:r>
              <a:rPr lang="en-GB" sz="1400" b="1" dirty="0"/>
              <a:t>slow, biased, and inconsistent</a:t>
            </a:r>
            <a:r>
              <a:rPr lang="en-GB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Job seekers struggle to identify </a:t>
            </a:r>
            <a:r>
              <a:rPr lang="en-GB" sz="1400" b="1" dirty="0"/>
              <a:t>missing skills</a:t>
            </a:r>
            <a:r>
              <a:rPr lang="en-GB" sz="1400" dirty="0"/>
              <a:t> and suitable career paths.</a:t>
            </a:r>
          </a:p>
          <a:p>
            <a:pPr>
              <a:buNone/>
            </a:pPr>
            <a:r>
              <a:rPr lang="en-GB" sz="1400" b="1" dirty="0"/>
              <a:t>Motivation (Backed by Research)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NLP enables extraction of skills, qualifications, and experience from unstructured CVs.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Cloud computing ensures </a:t>
            </a:r>
            <a:r>
              <a:rPr lang="en-GB" sz="1400" b="1" dirty="0"/>
              <a:t>scalability</a:t>
            </a:r>
            <a:r>
              <a:rPr lang="en-GB" sz="1400" dirty="0"/>
              <a:t>, secure storage, and global accessibility.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Data analytics supports </a:t>
            </a:r>
            <a:r>
              <a:rPr lang="en-GB" sz="1400" b="1" dirty="0"/>
              <a:t>labour-market insights</a:t>
            </a:r>
            <a:r>
              <a:rPr lang="en-GB" sz="1400" dirty="0"/>
              <a:t> and personalised recommendations.</a:t>
            </a:r>
          </a:p>
          <a:p>
            <a:pPr marL="0" lvl="0" indent="0">
              <a:lnSpc>
                <a:spcPct val="120000"/>
              </a:lnSpc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F13E8BDF-5B84-EF0C-E736-A346D442565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E" dirty="0"/>
              <a:t>System Architecture</a:t>
            </a:r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4410C8D-EDB6-476A-D175-854F669E105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0" y="2844798"/>
            <a:ext cx="5181603" cy="3128967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IE" sz="1400" b="1" dirty="0"/>
              <a:t>How the System Works</a:t>
            </a:r>
          </a:p>
          <a:p>
            <a:pPr>
              <a:buNone/>
            </a:pPr>
            <a:r>
              <a:rPr lang="en-IE" sz="1400" b="1" dirty="0"/>
              <a:t>User &gt; Next.js Frontend &gt; Flask API &gt; NLP Processing &gt; Azure Blob Storage &gt; Azure SQL (planned) &gt; Job Matching &gt; Results UI</a:t>
            </a:r>
            <a:endParaRPr lang="en-IE" sz="1400" dirty="0"/>
          </a:p>
          <a:p>
            <a:pPr>
              <a:buNone/>
            </a:pPr>
            <a:r>
              <a:rPr lang="en-IE" sz="1400" b="1" dirty="0"/>
              <a:t>Core 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400" b="1" dirty="0"/>
              <a:t>Next.js Frontend</a:t>
            </a:r>
            <a:r>
              <a:rPr lang="en-IE" sz="1400" dirty="0"/>
              <a:t> – CV upload + job results 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400" b="1" dirty="0"/>
              <a:t>Flask Backend</a:t>
            </a:r>
            <a:r>
              <a:rPr lang="en-IE" sz="1400" dirty="0"/>
              <a:t> – API endpoints + NLP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400" b="1" dirty="0"/>
              <a:t>NLP Pipeline (NLTK, </a:t>
            </a:r>
            <a:r>
              <a:rPr lang="en-IE" sz="1400" b="1" dirty="0" err="1"/>
              <a:t>Punkt</a:t>
            </a:r>
            <a:r>
              <a:rPr lang="en-IE" sz="1400" b="1" dirty="0"/>
              <a:t>)</a:t>
            </a:r>
            <a:r>
              <a:rPr lang="en-IE" sz="1400" dirty="0"/>
              <a:t> – skill + qualification extraction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400" b="1" dirty="0"/>
              <a:t>PDF/DOCX Parsing</a:t>
            </a:r>
            <a:r>
              <a:rPr lang="en-IE" sz="1400" dirty="0"/>
              <a:t> – PyPDF2 &amp; python-docx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400" b="1" dirty="0"/>
              <a:t>Azure Storage</a:t>
            </a:r>
            <a:r>
              <a:rPr lang="en-IE" sz="1400" dirty="0"/>
              <a:t> – secure CV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400" b="1" dirty="0"/>
              <a:t>Recommendation Engine</a:t>
            </a:r>
            <a:r>
              <a:rPr lang="en-IE" sz="1400" dirty="0"/>
              <a:t> – keyword similarity, match scoring</a:t>
            </a:r>
          </a:p>
          <a:p>
            <a:pPr marL="0" lvl="0" indent="0">
              <a:lnSpc>
                <a:spcPct val="120000"/>
              </a:lnSpc>
              <a:buNone/>
            </a:pPr>
            <a:endParaRPr lang="en-US" sz="2000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2F9D6EB6-9E53-A1A0-DE01-68ABD2F30CF9}"/>
              </a:ext>
            </a:extLst>
          </p:cNvPr>
          <p:cNvSpPr txBox="1"/>
          <p:nvPr/>
        </p:nvSpPr>
        <p:spPr>
          <a:xfrm>
            <a:off x="914400" y="6246257"/>
            <a:ext cx="631064" cy="2962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 dirty="0">
              <a:solidFill>
                <a:srgbClr val="000000"/>
              </a:solidFill>
              <a:uFillTx/>
              <a:latin typeface="Tenorite"/>
            </a:endParaRPr>
          </a:p>
        </p:txBody>
      </p:sp>
      <p:pic>
        <p:nvPicPr>
          <p:cNvPr id="5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F98CC1A7-A5B5-55AC-7CDA-E5A99B849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935" y="700119"/>
            <a:ext cx="3990112" cy="5225622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C6265E40-9B11-3550-47C5-CDE762C5BFC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E" dirty="0"/>
              <a:t>Current Progress (Implementation)</a:t>
            </a:r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BE087E3-9C7B-6E71-F43D-1C934EA5FCD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0" y="2844798"/>
            <a:ext cx="5181603" cy="3128967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IE" sz="1400" b="1" dirty="0"/>
              <a:t>Completed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400" dirty="0"/>
              <a:t> CV Upload fully functional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400" dirty="0"/>
              <a:t> Parsing text from PDF/DOCX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400" dirty="0"/>
              <a:t> NLP skill extraction (keyword + tokenization)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400" dirty="0"/>
              <a:t> Qualification detection (degree, certifications)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400" dirty="0"/>
              <a:t> End-to-end integration: </a:t>
            </a:r>
            <a:r>
              <a:rPr lang="en-IE" sz="1400" b="1" dirty="0"/>
              <a:t>Next.js &gt; Flask &gt; Azure Blob Storage</a:t>
            </a:r>
            <a:endParaRPr lang="en-IE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E" sz="1400" dirty="0"/>
              <a:t> Text preview of parsed CV content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400" dirty="0"/>
              <a:t> Working API for returning skills + qualifications</a:t>
            </a:r>
          </a:p>
          <a:p>
            <a:pPr>
              <a:buNone/>
            </a:pPr>
            <a:r>
              <a:rPr lang="en-IE" sz="1400" b="1" dirty="0"/>
              <a:t>Demonstrates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400" dirty="0"/>
              <a:t>Full prototype pipeline in place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400" dirty="0"/>
              <a:t>Core NLP + cloud components already implemented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789DF6F2-C3C2-0F0E-3297-4EFB7019D9B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E" dirty="0"/>
              <a:t>Future Development Roadmap</a:t>
            </a:r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A6E3CD4-6F7F-4696-DCED-FC0BB05926B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0" y="2844798"/>
            <a:ext cx="5181603" cy="312896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E" sz="2000" b="1" dirty="0"/>
              <a:t>Planned Features</a:t>
            </a:r>
          </a:p>
          <a:p>
            <a:r>
              <a:rPr lang="en-IE" sz="2000" b="1" dirty="0"/>
              <a:t>Full job matching engine</a:t>
            </a:r>
            <a:r>
              <a:rPr lang="en-IE" sz="2000" dirty="0"/>
              <a:t> (TF-IDF / cosine similarity etc not entirely sure though)</a:t>
            </a:r>
          </a:p>
          <a:p>
            <a:r>
              <a:rPr lang="en-IE" sz="2000" b="1" dirty="0"/>
              <a:t>Azure SQL integration</a:t>
            </a:r>
            <a:r>
              <a:rPr lang="en-IE" sz="2000" dirty="0"/>
              <a:t> for storing job listings &amp; extracted CV data</a:t>
            </a:r>
          </a:p>
          <a:p>
            <a:r>
              <a:rPr lang="en-IE" sz="2000" b="1" dirty="0"/>
              <a:t>User accounts + saved jobs</a:t>
            </a:r>
            <a:endParaRPr lang="en-IE" sz="2000" dirty="0"/>
          </a:p>
          <a:p>
            <a:r>
              <a:rPr lang="en-IE" sz="2000" b="1" dirty="0"/>
              <a:t>Missing skill analysis</a:t>
            </a:r>
            <a:r>
              <a:rPr lang="en-IE" sz="2000" dirty="0"/>
              <a:t> with upskilling suggestions</a:t>
            </a:r>
          </a:p>
          <a:p>
            <a:r>
              <a:rPr lang="en-IE" sz="2000" b="1" dirty="0"/>
              <a:t>Admin dashboard</a:t>
            </a:r>
            <a:r>
              <a:rPr lang="en-IE" sz="2000" dirty="0"/>
              <a:t> for job + user management</a:t>
            </a:r>
          </a:p>
          <a:p>
            <a:r>
              <a:rPr lang="en-IE" sz="2000" b="1" dirty="0"/>
              <a:t>Analytics dashboard</a:t>
            </a:r>
            <a:r>
              <a:rPr lang="en-IE" sz="2000" dirty="0"/>
              <a:t> (labour-market insights)</a:t>
            </a:r>
          </a:p>
          <a:p>
            <a:r>
              <a:rPr lang="en-IE" sz="2000" b="1" dirty="0"/>
              <a:t>Deployment to Azure/</a:t>
            </a:r>
            <a:r>
              <a:rPr lang="en-IE" sz="2000" b="1" dirty="0" err="1"/>
              <a:t>Vercel</a:t>
            </a:r>
            <a:br>
              <a:rPr lang="en-IE" sz="2000" b="1" dirty="0"/>
            </a:br>
            <a:endParaRPr lang="en-IE" sz="2000" dirty="0"/>
          </a:p>
          <a:p>
            <a:pPr marL="0" indent="0">
              <a:buNone/>
            </a:pPr>
            <a:r>
              <a:rPr lang="en-IE" sz="2000" b="1" dirty="0"/>
              <a:t>Goal</a:t>
            </a:r>
          </a:p>
          <a:p>
            <a:r>
              <a:rPr lang="en-IE" sz="2000" dirty="0"/>
              <a:t>A fully cloud-hosted, intelligent recruitment platform.</a:t>
            </a:r>
          </a:p>
          <a:p>
            <a:pPr marL="0" lvl="0" indent="0">
              <a:lnSpc>
                <a:spcPct val="110000"/>
              </a:lnSpc>
              <a:buNone/>
            </a:pPr>
            <a:endParaRPr lang="en-US" sz="1900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6841B0B-5545-FFCF-5471-F34763E94CDA}"/>
              </a:ext>
            </a:extLst>
          </p:cNvPr>
          <p:cNvSpPr txBox="1"/>
          <p:nvPr/>
        </p:nvSpPr>
        <p:spPr>
          <a:xfrm>
            <a:off x="914400" y="6246257"/>
            <a:ext cx="631064" cy="2962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8C8DBFF-6D24-448A-82A0-B0EB32DAABA9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Tenorite"/>
              </a:rPr>
              <a:t>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Tenorit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AD529814-8DF7-7329-3CB6-44DCA798743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Technologies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0C714C44-1197-CEFF-32F4-350F48295F55}"/>
              </a:ext>
            </a:extLst>
          </p:cNvPr>
          <p:cNvSpPr txBox="1"/>
          <p:nvPr/>
        </p:nvSpPr>
        <p:spPr>
          <a:xfrm>
            <a:off x="914400" y="6246257"/>
            <a:ext cx="631064" cy="2962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16ED804-2DB8-45C7-9D06-CF32DE98496F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Tenorite"/>
              </a:rPr>
              <a:t>7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Tenorite"/>
            </a:endParaRPr>
          </a:p>
        </p:txBody>
      </p:sp>
      <p:pic>
        <p:nvPicPr>
          <p:cNvPr id="4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72CAE9-DAD6-9186-88CB-9F3170778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556" y="548640"/>
            <a:ext cx="5910068" cy="3054096"/>
          </a:xfrm>
          <a:prstGeom prst="rect">
            <a:avLst/>
          </a:prstGeom>
          <a:solidFill>
            <a:srgbClr val="EDEDED"/>
          </a:solidFill>
          <a:ln cap="flat">
            <a:noFill/>
          </a:ln>
        </p:spPr>
      </p:pic>
      <p:pic>
        <p:nvPicPr>
          <p:cNvPr id="5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D87972-6145-4C8F-515D-F682F9D032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3556" y="3810387"/>
            <a:ext cx="5910068" cy="2732080"/>
          </a:xfrm>
          <a:prstGeom prst="rect">
            <a:avLst/>
          </a:prstGeom>
          <a:solidFill>
            <a:srgbClr val="EDEDED"/>
          </a:solidFill>
          <a:ln cap="flat">
            <a:noFill/>
          </a:ln>
        </p:spPr>
      </p:pic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915B64FE-A6D6-BAFC-1BF0-01B65FB9A82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21208" y="2844798"/>
            <a:ext cx="5574795" cy="3401459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E" b="1" dirty="0"/>
              <a:t>Technologies Used</a:t>
            </a:r>
          </a:p>
          <a:p>
            <a:r>
              <a:rPr lang="en-IE" b="1" dirty="0"/>
              <a:t>Frontend:</a:t>
            </a:r>
            <a:r>
              <a:rPr lang="en-IE" dirty="0"/>
              <a:t> Next.js (React framework)</a:t>
            </a:r>
          </a:p>
          <a:p>
            <a:r>
              <a:rPr lang="en-IE" b="1" dirty="0"/>
              <a:t>Backend:</a:t>
            </a:r>
            <a:r>
              <a:rPr lang="en-IE" dirty="0"/>
              <a:t> Flask (lightweight API for NLP)</a:t>
            </a:r>
          </a:p>
          <a:p>
            <a:r>
              <a:rPr lang="en-IE" b="1" dirty="0"/>
              <a:t>Languages:</a:t>
            </a:r>
            <a:r>
              <a:rPr lang="en-IE" dirty="0"/>
              <a:t> Python, JavaScript</a:t>
            </a:r>
          </a:p>
          <a:p>
            <a:r>
              <a:rPr lang="en-IE" b="1" dirty="0"/>
              <a:t>NLP:</a:t>
            </a:r>
            <a:r>
              <a:rPr lang="en-IE" dirty="0"/>
              <a:t> NLTK, </a:t>
            </a:r>
            <a:r>
              <a:rPr lang="en-IE" dirty="0" err="1"/>
              <a:t>Punkt</a:t>
            </a:r>
            <a:r>
              <a:rPr lang="en-IE" dirty="0"/>
              <a:t> tokenization</a:t>
            </a:r>
          </a:p>
          <a:p>
            <a:r>
              <a:rPr lang="en-IE" b="1" dirty="0"/>
              <a:t>File Parsing:</a:t>
            </a:r>
            <a:r>
              <a:rPr lang="en-IE" dirty="0"/>
              <a:t> PyPDF2, python-docx</a:t>
            </a:r>
          </a:p>
          <a:p>
            <a:r>
              <a:rPr lang="en-IE" b="1" dirty="0"/>
              <a:t>Cloud:</a:t>
            </a:r>
            <a:r>
              <a:rPr lang="en-IE" dirty="0"/>
              <a:t> Azure Blob Storage, Azure SQL (planned)</a:t>
            </a:r>
          </a:p>
          <a:p>
            <a:r>
              <a:rPr lang="en-IE" b="1" dirty="0"/>
              <a:t>Deployment:</a:t>
            </a:r>
            <a:r>
              <a:rPr lang="en-IE" dirty="0"/>
              <a:t> </a:t>
            </a:r>
            <a:r>
              <a:rPr lang="en-IE" dirty="0" err="1"/>
              <a:t>Vercel</a:t>
            </a:r>
            <a:r>
              <a:rPr lang="en-IE" dirty="0"/>
              <a:t> / Azure App Service (planned)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b="1" dirty="0"/>
              <a:t>Why These Choices?</a:t>
            </a:r>
          </a:p>
          <a:p>
            <a:r>
              <a:rPr lang="en-IE" dirty="0"/>
              <a:t>Lightweight NLP &gt; fast + efficient for student project constraints</a:t>
            </a:r>
          </a:p>
          <a:p>
            <a:r>
              <a:rPr lang="en-IE" dirty="0"/>
              <a:t>Flask &gt; simple microservice architecture</a:t>
            </a:r>
          </a:p>
          <a:p>
            <a:r>
              <a:rPr lang="en-IE" dirty="0"/>
              <a:t>Azure &gt; secure, scalable CV storage</a:t>
            </a:r>
          </a:p>
          <a:p>
            <a:r>
              <a:rPr lang="en-IE" dirty="0"/>
              <a:t>Next.js &gt; modern, responsive UI for job results</a:t>
            </a:r>
          </a:p>
          <a:p>
            <a:pPr marL="0" lvl="0" indent="0">
              <a:lnSpc>
                <a:spcPct val="110000"/>
              </a:lnSpc>
              <a:buNone/>
            </a:pPr>
            <a:endParaRPr lang="en-IE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2">
            <a:extLst>
              <a:ext uri="{FF2B5EF4-FFF2-40B4-BE49-F238E27FC236}">
                <a16:creationId xmlns:a16="http://schemas.microsoft.com/office/drawing/2014/main" id="{13667784-80D8-9218-586A-E968987D6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>
            <a:fillRect/>
          </a:stretch>
        </p:blipFill>
        <p:spPr>
          <a:xfrm flipH="1">
            <a:off x="0" y="0"/>
            <a:ext cx="5181603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2F185F08-1690-14E7-CBBC-A35773D84CD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Thank you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68FFD93E-7611-4D7C-7FA1-2F9C90EB284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091513" y="4172992"/>
            <a:ext cx="5057107" cy="2519364"/>
          </a:xfrm>
        </p:spPr>
        <p:txBody>
          <a:bodyPr/>
          <a:lstStyle/>
          <a:p>
            <a:endParaRPr lang="en-I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Minimalist%20sales%20pitch</Template>
  <TotalTime>279</TotalTime>
  <Words>483</Words>
  <Application>Microsoft Office PowerPoint</Application>
  <PresentationFormat>Widescreen</PresentationFormat>
  <Paragraphs>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Tenorite</vt:lpstr>
      <vt:lpstr>Custom</vt:lpstr>
      <vt:lpstr>Just apply – Intelligent Job Recommendation System </vt:lpstr>
      <vt:lpstr>Introduction</vt:lpstr>
      <vt:lpstr>Problem &amp; Motivation</vt:lpstr>
      <vt:lpstr>System Architecture</vt:lpstr>
      <vt:lpstr>Current Progress (Implementation)</vt:lpstr>
      <vt:lpstr>Future Development Roadmap</vt:lpstr>
      <vt:lpstr>Technologies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Aigbe</dc:creator>
  <cp:lastModifiedBy>Daniel Aigbe</cp:lastModifiedBy>
  <cp:revision>3</cp:revision>
  <dcterms:created xsi:type="dcterms:W3CDTF">2025-12-05T09:27:48Z</dcterms:created>
  <dcterms:modified xsi:type="dcterms:W3CDTF">2025-12-10T18:58:07Z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